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6858000" cx="12192000"/>
  <p:notesSz cx="6858000" cy="9144000"/>
  <p:embeddedFontLst>
    <p:embeddedFont>
      <p:font typeface="Play"/>
      <p:regular r:id="rId48"/>
      <p:bold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0" roundtripDataSignature="AMtx7mi5sn5OSfzsqsWUocDfA9x4LtlG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29B2D0-CAA4-4AA9-96E9-69E9A3C8234B}">
  <a:tblStyle styleId="{4C29B2D0-CAA4-4AA9-96E9-69E9A3C8234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75787FD-30A6-4F41-9718-75A87F5E616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ay-regular.fntdata"/><Relationship Id="rId47" Type="http://schemas.openxmlformats.org/officeDocument/2006/relationships/slide" Target="slides/slide42.xml"/><Relationship Id="rId49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(*): Denoting the Team Leader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member sharing similar contribution</a:t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Robust: The agent hard to hacking the World Model for optimizing it’s training objective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Efficient: The training shall be computation &amp; memory optimized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Accurate: the latent result of the world model shall reflect the actual real-world &amp; close to the real world as possible</a:t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Vision (some call this Perception/ Observer)</a:t>
            </a:r>
            <a:endParaRPr/>
          </a:p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(remember the last state of the World that the model been experienced)</a:t>
            </a:r>
            <a:endParaRPr/>
          </a:p>
          <a:p>
            <a:pPr indent="0" lvl="1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Controller (making downstream decision using Vision &amp; memory input)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[1]: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D. Ha and Schmidhuber (2018, p.2)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[2]: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Lecun (2022) </a:t>
            </a:r>
            <a:endParaRPr/>
          </a:p>
        </p:txBody>
      </p:sp>
      <p:sp>
        <p:nvSpPr>
          <p:cNvPr id="143" name="Google Shape;1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[2]: Lecun (2022)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[3] (Assran et al., 2023)</a:t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a705dc10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a705dc10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aa705dc107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[4]: (Hafner et al., 2023)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F: The RL controller needs to be trained – MLP is the usual choice</a:t>
            </a:r>
            <a:endParaRPr/>
          </a:p>
          <a:p>
            <a:pPr indent="-342900" lvl="0" marL="3429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 sz="1200"/>
              <a:t>t: the current timestamps (episodes)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Images from: </a:t>
            </a: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Sutton, R. (1991). Dyna, an integrated architecture for learning, planning, and reacting. 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SIGART Newsletter</a:t>
            </a: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 </a:t>
            </a:r>
            <a:r>
              <a:rPr b="0" i="1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(4), 160–163. https://doi.org/10.1145/122344.122377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[1]: (Ha &amp; Schmidhuber, 2018)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[4]:(Hafner et al., 2023)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[5]: (Hansen et al., 2023)</a:t>
            </a:r>
            <a:endParaRPr/>
          </a:p>
        </p:txBody>
      </p:sp>
      <p:sp>
        <p:nvSpPr>
          <p:cNvPr id="198" name="Google Shape;19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44b3e5b3d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b44b3e5b3d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b44b3e5b3d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/>
              <a:t>Based on</a:t>
            </a:r>
            <a:r>
              <a:rPr lang="en-US" sz="1400"/>
              <a:t> Blogpost: </a:t>
            </a:r>
            <a:r>
              <a:rPr lang="en-US" sz="1400">
                <a:solidFill>
                  <a:srgbClr val="084AD8"/>
                </a:solidFill>
              </a:rPr>
              <a:t>https://ai.meta.com/blog/v-jepa-2-world-model-benchmarks</a:t>
            </a:r>
            <a:endParaRPr sz="1400">
              <a:solidFill>
                <a:srgbClr val="084AD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[4]:(Hafner et al., 2023)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(Caesar et al., 2019)</a:t>
            </a:r>
            <a:endParaRPr/>
          </a:p>
        </p:txBody>
      </p:sp>
      <p:sp>
        <p:nvSpPr>
          <p:cNvPr id="247" name="Google Shape;24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[6]: (Caesar et al., 2021)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[7]: (Yan et al., 2025)</a:t>
            </a:r>
            <a:endParaRPr/>
          </a:p>
        </p:txBody>
      </p:sp>
      <p:sp>
        <p:nvSpPr>
          <p:cNvPr id="255" name="Google Shape;25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8f9a26d23_3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8f9a26d23_3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a8f9a26d23_3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b38702c34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ab38702c34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3ab38702c34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44b3e5b3d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44b3e5b3d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From: https://github.com/Farama-Foundation/HighwayEnv</a:t>
            </a:r>
            <a:endParaRPr/>
          </a:p>
        </p:txBody>
      </p:sp>
      <p:sp>
        <p:nvSpPr>
          <p:cNvPr id="294" name="Google Shape;294;g3b44b3e5b3d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[1] (Ha &amp; Schmidhuber, 2018 — World Models)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[8](Gao et al., 2024 — CarDreamer)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[9](Min et al., 2024 — DriveWorld)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/>
              <a:t>7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(Yan et al., 2025 — DiffAD / Motion-Planner Frameworks)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Collision Rate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Success Rate 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Average Displacement Error (minADE) ↓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Route Completion ↑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/>
              <a:t>Lateral Deviation ↓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/>
              <a:t>Average Reward / Score (↑)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/>
              <a:t>Driving Score (↑)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Summed reward across steps within episode</a:t>
            </a:r>
            <a:endParaRPr/>
          </a:p>
        </p:txBody>
      </p:sp>
      <p:sp>
        <p:nvSpPr>
          <p:cNvPr id="316" name="Google Shape;31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b38702c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b38702c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ab38702c3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b38702c34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b38702c34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mean +- std</a:t>
            </a:r>
            <a:endParaRPr/>
          </a:p>
        </p:txBody>
      </p:sp>
      <p:sp>
        <p:nvSpPr>
          <p:cNvPr id="339" name="Google Shape;339;g3ab38702c34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44b3e5b3d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44b3e5b3d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b44b3e5b3d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b44b3e5b3d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b44b3e5b3d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b44b3e5b3d_0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44b3e5b3d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b44b3e5b3d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b44b3e5b3d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b44b3e5b3d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b44b3e5b3d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g3b44b3e5b3d_0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44b3e5b3d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b44b3e5b3d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b44b3e5b3d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doi.org/10.1007/bf00992696" TargetMode="External"/><Relationship Id="rId4" Type="http://schemas.openxmlformats.org/officeDocument/2006/relationships/hyperlink" Target="https://arxiv.org/abs/2010.05767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arxiv.org/abs/2301.0824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426150"/>
            <a:ext cx="91440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 sz="4800"/>
              <a:t>CS-3331 Group 2 Project Proposal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176776"/>
            <a:ext cx="9144000" cy="22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HANOI WORLD – A World Model Framework for Training Autonomous Self-Driving Cars In Hanoi</a:t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Member</a:t>
            </a:r>
            <a:r>
              <a:rPr lang="en-US"/>
              <a:t> List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 Tran Tien </a:t>
            </a:r>
            <a:r>
              <a:rPr baseline="30000" lang="en-US"/>
              <a:t>(*)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Nguyen Khanh Viet Dung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Nguyen Hai An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Nguyen Duy Duc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Problem Statement &amp; Motivation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Relevant Work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Methodology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Proposed Plan on Experimentation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Problem Statement &amp; Motivation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Currently there are 2 main methods for training an Autonomous Vehicle Controller 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Supervised Learning (use a large amount of labeled data)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Reinforcement Learning (Trial &amp; Error a lot)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Both these methods are ineffective &amp; expensive -&gt; need a better training paradigm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Problem Statement &amp; Motivation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825625"/>
            <a:ext cx="557601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Humans can learn driving skills adaptively, using their </a:t>
            </a:r>
            <a:r>
              <a:rPr b="1" lang="en-US"/>
              <a:t>imagination</a:t>
            </a:r>
            <a:r>
              <a:rPr lang="en-US"/>
              <a:t> on possible scenarios 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🡺"/>
            </a:pPr>
            <a:r>
              <a:rPr lang="en-US"/>
              <a:t>Better at preventing danger while attaining new skills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🡺"/>
            </a:pPr>
            <a:r>
              <a:rPr lang="en-US"/>
              <a:t>Cost effective &amp; Safety for A.V manufacture &amp; driver.</a:t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cartoon of a person riding a bicycle&#10;&#10;AI-generated content may be incorrect.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3763" y="1600200"/>
            <a:ext cx="5257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6572865" y="5257800"/>
            <a:ext cx="4939581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Model </a:t>
            </a:r>
            <a:r>
              <a:rPr lang="en-US" sz="1600">
                <a:solidFill>
                  <a:schemeClr val="dk1"/>
                </a:solidFill>
              </a:rPr>
              <a:t>Concept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Demonstration From (Ha &amp; Schmidhuber, 2018)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Problem Statement &amp; Motivation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concept of model training using its own imagination image on world perception = World Model as the A.V training simulation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 the problem we are trying to solve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1" lang="en-US"/>
              <a:t>How to design the World Model Simulation, so that the A.V controller can be trained on such that the simulation has to be robust, efficient, and accurate</a:t>
            </a:r>
            <a:endParaRPr/>
          </a:p>
        </p:txBody>
      </p:sp>
      <p:sp>
        <p:nvSpPr>
          <p:cNvPr id="129" name="Google Shape;12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Relevant Works</a:t>
            </a:r>
            <a:endParaRPr/>
          </a:p>
        </p:txBody>
      </p:sp>
      <p:sp>
        <p:nvSpPr>
          <p:cNvPr id="136" name="Google Shape;136;p7"/>
          <p:cNvSpPr txBox="1"/>
          <p:nvPr>
            <p:ph idx="1" type="body"/>
          </p:nvPr>
        </p:nvSpPr>
        <p:spPr>
          <a:xfrm>
            <a:off x="838200" y="1825625"/>
            <a:ext cx="571871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World Model fundamentals contain 3 components: [1]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Vision (VAE / CNN/ Autoencoder)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Memory (RNN / Sequential Models)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Controller (Linear Layer/ Multi-layer-perceptron)</a:t>
            </a:r>
            <a:endParaRPr/>
          </a:p>
        </p:txBody>
      </p:sp>
      <p:sp>
        <p:nvSpPr>
          <p:cNvPr id="137" name="Google Shape;13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iagram of a light source&#10;&#10;AI-generated content may be incorrect." id="138" name="Google Shape;138;p7"/>
          <p:cNvPicPr preferRelativeResize="0"/>
          <p:nvPr/>
        </p:nvPicPr>
        <p:blipFill rotWithShape="1">
          <a:blip r:embed="rId3">
            <a:alphaModFix/>
          </a:blip>
          <a:srcRect b="0" l="30607" r="0" t="0"/>
          <a:stretch/>
        </p:blipFill>
        <p:spPr>
          <a:xfrm>
            <a:off x="6759498" y="1168491"/>
            <a:ext cx="4594302" cy="4303473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 txBox="1"/>
          <p:nvPr/>
        </p:nvSpPr>
        <p:spPr>
          <a:xfrm>
            <a:off x="6241869" y="5498090"/>
            <a:ext cx="5430439" cy="869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World Model  Initial Architecture (Ha &amp; Schmidhuber, 2018)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Relevant Works</a:t>
            </a:r>
            <a:endParaRPr/>
          </a:p>
        </p:txBody>
      </p:sp>
      <p:sp>
        <p:nvSpPr>
          <p:cNvPr id="146" name="Google Shape;146;p8"/>
          <p:cNvSpPr txBox="1"/>
          <p:nvPr>
            <p:ph idx="1" type="body"/>
          </p:nvPr>
        </p:nvSpPr>
        <p:spPr>
          <a:xfrm>
            <a:off x="838200" y="1690688"/>
            <a:ext cx="10957560" cy="4802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Later findings do enhance &amp; make the suggested architecture more sophisticated [2]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Add </a:t>
            </a:r>
            <a:r>
              <a:rPr b="1" lang="en-US"/>
              <a:t>regularization cost</a:t>
            </a:r>
            <a:r>
              <a:rPr lang="en-US"/>
              <a:t> to latent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Stabilize </a:t>
            </a:r>
            <a:r>
              <a:rPr b="1" lang="en-US"/>
              <a:t>embedding</a:t>
            </a:r>
            <a:r>
              <a:rPr lang="en-US"/>
              <a:t> and </a:t>
            </a:r>
            <a:r>
              <a:rPr b="1" lang="en-US"/>
              <a:t>action selection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Redesign </a:t>
            </a:r>
            <a:r>
              <a:rPr b="1" lang="en-US"/>
              <a:t>memory for hierarchy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Enable </a:t>
            </a:r>
            <a:r>
              <a:rPr b="1" lang="en-US"/>
              <a:t>long-term reasoning</a:t>
            </a:r>
            <a:r>
              <a:rPr lang="en-US"/>
              <a:t> ability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Integrate </a:t>
            </a:r>
            <a:r>
              <a:rPr b="1" lang="en-US"/>
              <a:t>multi-modal observers</a:t>
            </a:r>
            <a:r>
              <a:rPr lang="en-US"/>
              <a:t> (text, image, kinematic, etc.)</a:t>
            </a:r>
            <a:endParaRPr/>
          </a:p>
          <a:p>
            <a:pPr indent="-64135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Relevant Works</a:t>
            </a:r>
            <a:endParaRPr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838200" y="1558625"/>
            <a:ext cx="11066400" cy="49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1295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</a:pPr>
            <a:r>
              <a:rPr lang="en-US" sz="1950"/>
              <a:t>The architecture of JEPA supports the prediction of cross-domain embedding on latent features [2, 3]</a:t>
            </a:r>
            <a:endParaRPr sz="1950"/>
          </a:p>
          <a:p>
            <a:pPr indent="-207009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Ex: Guessing Text Semantic latent features using </a:t>
            </a:r>
            <a:r>
              <a:rPr lang="en-US" sz="1700"/>
              <a:t>images</a:t>
            </a:r>
            <a:r>
              <a:rPr lang="en-US" sz="1700"/>
              <a:t> latent features</a:t>
            </a:r>
            <a:endParaRPr sz="1700"/>
          </a:p>
          <a:p>
            <a:pPr indent="-201295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</a:pPr>
            <a:r>
              <a:rPr lang="en-US" sz="1950"/>
              <a:t>JEPA</a:t>
            </a:r>
            <a:r>
              <a:rPr b="1" lang="en-US" sz="1950"/>
              <a:t>: Joint Embedding Predicitve Architecture</a:t>
            </a:r>
            <a:endParaRPr sz="1950"/>
          </a:p>
          <a:p>
            <a:pPr indent="-201295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50"/>
              <a:buChar char="•"/>
            </a:pPr>
            <a:r>
              <a:rPr lang="en-US" sz="1950"/>
              <a:t>Multiple JEPAs connected &amp; nested on other can create the pattern of hierarchical reasoning with difference level of feature abstraction  [2]</a:t>
            </a:r>
            <a:endParaRPr sz="1950"/>
          </a:p>
          <a:p>
            <a:pPr indent="-161607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325"/>
              <a:buChar char="•"/>
            </a:pPr>
            <a:r>
              <a:rPr lang="en-US" sz="1950"/>
              <a:t>For Multiple Step latent </a:t>
            </a:r>
            <a:r>
              <a:rPr lang="en-US" sz="1950"/>
              <a:t>yielding</a:t>
            </a:r>
            <a:r>
              <a:rPr lang="en-US" sz="1950"/>
              <a:t> - we </a:t>
            </a:r>
            <a:r>
              <a:rPr lang="en-US" sz="1950"/>
              <a:t>leverage</a:t>
            </a:r>
            <a:r>
              <a:rPr lang="en-US" sz="1950"/>
              <a:t> the usage of Reccurent Network as RSSM in [4]</a:t>
            </a:r>
            <a:endParaRPr sz="1950"/>
          </a:p>
        </p:txBody>
      </p:sp>
      <p:sp>
        <p:nvSpPr>
          <p:cNvPr id="155" name="Google Shape;15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algorithm&#10;&#10;AI-generated content may be incorrect." id="160" name="Google Shape;160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53" y="1167248"/>
            <a:ext cx="10896493" cy="264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3027219" y="4369552"/>
            <a:ext cx="659476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different types of architecture (JEPA – c)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Images from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(Assran et al., 2023) [14]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a705dc107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Recurrent State-Space Model (used by [4] &amp; [13]</a:t>
            </a:r>
            <a:endParaRPr/>
          </a:p>
        </p:txBody>
      </p:sp>
      <p:sp>
        <p:nvSpPr>
          <p:cNvPr id="169" name="Google Shape;169;g3aa705dc107_0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g3aa705dc107_0_20" title="Screenshot 2025-11-27 at 21.53.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5" y="1825625"/>
            <a:ext cx="5487056" cy="4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aa705dc107_0_20" title="Screenshot 2025-11-27 at 21.54.13.png"/>
          <p:cNvPicPr preferRelativeResize="0"/>
          <p:nvPr/>
        </p:nvPicPr>
        <p:blipFill rotWithShape="1">
          <a:blip r:embed="rId4">
            <a:alphaModFix/>
          </a:blip>
          <a:srcRect b="0" l="0" r="14398" t="0"/>
          <a:stretch/>
        </p:blipFill>
        <p:spPr>
          <a:xfrm>
            <a:off x="6716000" y="3394325"/>
            <a:ext cx="4984151" cy="105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Relevant Works [4]</a:t>
            </a:r>
            <a:endParaRPr/>
          </a:p>
        </p:txBody>
      </p:sp>
      <p:pic>
        <p:nvPicPr>
          <p:cNvPr descr="A diagram of a model&#10;&#10;AI-generated content may be incorrect." id="178" name="Google Shape;178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729" y="1690688"/>
            <a:ext cx="7482000" cy="38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7956724" y="1621675"/>
            <a:ext cx="40851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the Controller in Actor-Critic Learning</a:t>
            </a:r>
            <a:endParaRPr/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 predicted by a Function using World Model Embedding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Relevant Works</a:t>
            </a:r>
            <a:endParaRPr/>
          </a:p>
        </p:txBody>
      </p:sp>
      <p:sp>
        <p:nvSpPr>
          <p:cNvPr id="186" name="Google Shape;186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those results may influence our team’s designing of HANOI-WORLD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JEPA for learning from difference modality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Design the World Model is a hierarchical system for layering in reasoning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Action-Critic training paradigm use for training the R.L controller</a:t>
            </a:r>
            <a:endParaRPr/>
          </a:p>
        </p:txBody>
      </p:sp>
      <p:sp>
        <p:nvSpPr>
          <p:cNvPr id="187" name="Google Shape;18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93" name="Google Shape;19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Our team </a:t>
            </a:r>
            <a:r>
              <a:rPr lang="en-US"/>
              <a:t>attempts to</a:t>
            </a:r>
            <a:r>
              <a:rPr lang="en-US"/>
              <a:t> design the HANOI-WORLD </a:t>
            </a:r>
            <a:r>
              <a:rPr lang="en-US"/>
              <a:t>system, which</a:t>
            </a:r>
            <a:r>
              <a:rPr lang="en-US"/>
              <a:t> contains 3 different modules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The Encoder the 2D-BEV images (radius of 70 - 100 arround ego)</a:t>
            </a:r>
            <a:endParaRPr/>
          </a:p>
          <a:p>
            <a:pPr indent="-2667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Courier New"/>
              <a:buChar char="•"/>
            </a:pPr>
            <a:r>
              <a:rPr lang="en-US"/>
              <a:t>Pre-train based JEPA-encoder for BEV-encoding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The Imaginary World Model 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RSSM-model for imagination &amp; overshoot the future based on history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MLP layers (Rewarding &amp; Continuation)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The RL-controlling head for automation</a:t>
            </a:r>
            <a:endParaRPr/>
          </a:p>
        </p:txBody>
      </p:sp>
      <p:sp>
        <p:nvSpPr>
          <p:cNvPr id="194" name="Google Shape;19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</a:t>
            </a:r>
            <a:r>
              <a:rPr lang="en-US"/>
              <a:t>Actor</a:t>
            </a:r>
            <a:r>
              <a:rPr lang="en-US"/>
              <a:t>-Critic controller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595400" y="1774250"/>
            <a:ext cx="6122400" cy="4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09550" lvl="0" marL="228600" rtl="0" algn="l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It’s recommended to design the layer to be simple for easier debugging &amp; parameter tuning [1], [4], [5]</a:t>
            </a:r>
            <a:endParaRPr sz="2500"/>
          </a:p>
          <a:p>
            <a:pPr indent="-20955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500"/>
              <a:t>The architecture we choose for actor-critic: MLP (Multi-Layer </a:t>
            </a:r>
            <a:r>
              <a:rPr lang="en-US" sz="2500"/>
              <a:t>Perceptron</a:t>
            </a:r>
            <a:r>
              <a:rPr lang="en-US" sz="2500"/>
              <a:t>) – based on the DreamerV3 </a:t>
            </a:r>
            <a:endParaRPr sz="2500"/>
          </a:p>
          <a:p>
            <a:pPr indent="-50800" lvl="0" marL="228600" rtl="0" algn="l">
              <a:lnSpc>
                <a:spcPct val="1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/>
          </a:p>
        </p:txBody>
      </p:sp>
      <p:sp>
        <p:nvSpPr>
          <p:cNvPr id="202" name="Google Shape;20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diagram of a business diagram&#10;&#10;AI-generated content may be incorrect.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11182" r="16198" t="0"/>
          <a:stretch/>
        </p:blipFill>
        <p:spPr>
          <a:xfrm>
            <a:off x="6960637" y="2276799"/>
            <a:ext cx="5007429" cy="230440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7478485" y="4742948"/>
            <a:ext cx="50074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Action Critic Framework for problem formulation (Sutton, 1991)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44b3e5b3d_0_19"/>
          <p:cNvSpPr txBox="1"/>
          <p:nvPr>
            <p:ph type="title"/>
          </p:nvPr>
        </p:nvSpPr>
        <p:spPr>
          <a:xfrm>
            <a:off x="516550" y="5536400"/>
            <a:ext cx="4335300" cy="63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(World Model Architecture)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 </a:t>
            </a:r>
            <a:endParaRPr sz="2800"/>
          </a:p>
        </p:txBody>
      </p:sp>
      <p:sp>
        <p:nvSpPr>
          <p:cNvPr id="211" name="Google Shape;211;g3b44b3e5b3d_0_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2" name="Google Shape;212;g3b44b3e5b3d_0_19" title="HanoiWorld_Ag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9525" y="461350"/>
            <a:ext cx="8792951" cy="5075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b44b3e5b3d_0_19"/>
          <p:cNvSpPr txBox="1"/>
          <p:nvPr/>
        </p:nvSpPr>
        <p:spPr>
          <a:xfrm>
            <a:off x="5849075" y="5342950"/>
            <a:ext cx="4464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(The System Architecture)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Simplified Architecture</a:t>
            </a:r>
            <a:endParaRPr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Action-Critic controller</a:t>
            </a:r>
            <a:endParaRPr/>
          </a:p>
          <a:p>
            <a:pPr indent="-228600" lvl="2" marL="11430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 Deciding by using the outcome from WorldModel</a:t>
            </a:r>
            <a:endParaRPr/>
          </a:p>
          <a:p>
            <a:pPr indent="-228600" lvl="2" marL="11430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Returned Action: Acceleration, Steering Angle (Radian)</a:t>
            </a:r>
            <a:endParaRPr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EMA Training for JEPA </a:t>
            </a:r>
            <a:endParaRPr/>
          </a:p>
        </p:txBody>
      </p:sp>
      <p:pic>
        <p:nvPicPr>
          <p:cNvPr descr="A screenshot of a computer&#10;&#10;AI-generated content may be incorrect." id="227" name="Google Shape;22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1000" y="1563186"/>
            <a:ext cx="6350000" cy="469553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Train the Actor-Critic [4]</a:t>
            </a:r>
            <a:endParaRPr/>
          </a:p>
        </p:txBody>
      </p:sp>
      <p:sp>
        <p:nvSpPr>
          <p:cNvPr id="235" name="Google Shape;235;p21"/>
          <p:cNvSpPr txBox="1"/>
          <p:nvPr>
            <p:ph idx="1" type="body"/>
          </p:nvPr>
        </p:nvSpPr>
        <p:spPr>
          <a:xfrm>
            <a:off x="838200" y="1825625"/>
            <a:ext cx="1024889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Prerequisite</a:t>
            </a:r>
            <a:r>
              <a:rPr lang="en-US"/>
              <a:t>: The latent representation (dream) has to be closest to the world (World model needs to train separately)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Critic learns to judge those dreams — how much reward each path gives.</a:t>
            </a:r>
            <a:endParaRPr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Actor learns to act inside those dreams to reach the best reward.</a:t>
            </a:r>
            <a:endParaRPr/>
          </a:p>
        </p:txBody>
      </p:sp>
      <p:sp>
        <p:nvSpPr>
          <p:cNvPr id="236" name="Google Shape;23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Train the Actor-Critic</a:t>
            </a:r>
            <a:endParaRPr/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Algorithm:</a:t>
            </a:r>
            <a:endParaRPr/>
          </a:p>
          <a:p>
            <a:pPr indent="-228600" lvl="1" marL="6858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REINFORCE-style [11] &amp; [4] inside latent embedding</a:t>
            </a:r>
            <a:endParaRPr/>
          </a:p>
          <a:p>
            <a:pPr indent="-228600" lvl="1" marL="685800" marR="0" rtl="0" algn="l">
              <a:lnSpc>
                <a:spcPct val="2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dream leads to a good outcome, increase its probability.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2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 if the dream leads to a bad outcome, decrease its probability.</a:t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actor shall perform the action based on the dream been selected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Dataset</a:t>
            </a:r>
            <a:endParaRPr/>
          </a:p>
        </p:txBody>
      </p:sp>
      <p:sp>
        <p:nvSpPr>
          <p:cNvPr id="250" name="Google Shape;250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dataset that we shall use: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NuScenes dataset: [10]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360 degrees Sensor (contain LiDAR sensor)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Rich map context (road, lane, static object)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3D object annotation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LiDAR semantic label (road, sidewalk,…)</a:t>
            </a:r>
            <a:endParaRPr/>
          </a:p>
          <a:p>
            <a:pPr indent="-228600" lvl="2" marL="11430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/>
              <a:t>Scene (1000 scenes,  each 20 s from Boston &amp; Singapore)</a:t>
            </a:r>
            <a:endParaRPr/>
          </a:p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Dataset</a:t>
            </a:r>
            <a:endParaRPr/>
          </a:p>
        </p:txBody>
      </p:sp>
      <p:sp>
        <p:nvSpPr>
          <p:cNvPr id="258" name="Google Shape;258;p24"/>
          <p:cNvSpPr txBox="1"/>
          <p:nvPr>
            <p:ph idx="1" type="body"/>
          </p:nvPr>
        </p:nvSpPr>
        <p:spPr>
          <a:xfrm>
            <a:off x="838200" y="1690688"/>
            <a:ext cx="1002702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2400"/>
              <a:t>NuPlan Dataset</a:t>
            </a:r>
            <a:r>
              <a:rPr lang="en-US" sz="2400"/>
              <a:t>: [6]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Driver History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Sensor data as NuScene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Ego-State of the Ego Vehicle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Surrounding Agent Labeling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Map Data</a:t>
            </a:r>
            <a:endParaRPr/>
          </a:p>
        </p:txBody>
      </p:sp>
      <p:sp>
        <p:nvSpPr>
          <p:cNvPr id="259" name="Google Shape;25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- Our Experiment Plan</a:t>
            </a:r>
            <a:endParaRPr/>
          </a:p>
        </p:txBody>
      </p: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215265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1:</a:t>
            </a:r>
            <a:endParaRPr/>
          </a:p>
          <a:p>
            <a:pPr indent="-217169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5714"/>
              <a:buChar char="•"/>
            </a:pPr>
            <a:r>
              <a:rPr lang="en-US"/>
              <a:t>Finetune the HANOI-WORLD’s encoder on the Observatory Data (nuScene &amp; nuPlan) for </a:t>
            </a:r>
            <a:r>
              <a:rPr lang="en-US" sz="2800"/>
              <a:t>y</a:t>
            </a:r>
            <a:r>
              <a:rPr lang="en-US" sz="2800"/>
              <a:t>ielding qualifiable imaginary embedding</a:t>
            </a:r>
            <a:endParaRPr sz="2800"/>
          </a:p>
          <a:p>
            <a:pPr indent="-215265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2:</a:t>
            </a:r>
            <a:endParaRPr/>
          </a:p>
          <a:p>
            <a:pPr indent="-217169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Training the RSSM &amp; Actor-Critic network with fine-tuned Encoder on </a:t>
            </a:r>
            <a:endParaRPr/>
          </a:p>
          <a:p>
            <a:pPr indent="0" lvl="0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/>
              <a:t>Highway-Env </a:t>
            </a:r>
            <a:r>
              <a:rPr lang="en-US"/>
              <a:t>environments</a:t>
            </a:r>
            <a:endParaRPr/>
          </a:p>
          <a:p>
            <a:pPr indent="0" lvl="1" marL="58674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66" name="Google Shape;266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</a:t>
            </a:r>
            <a:r>
              <a:rPr lang="en-US"/>
              <a:t>—Our</a:t>
            </a:r>
            <a:r>
              <a:rPr lang="en-US"/>
              <a:t> Experiment Plan</a:t>
            </a:r>
            <a:endParaRPr/>
          </a:p>
        </p:txBody>
      </p: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Step 3:</a:t>
            </a:r>
            <a:endParaRPr/>
          </a:p>
          <a:p>
            <a:pPr indent="-228600" lvl="1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Inference of the HANOI-WORLD on the Highway-Environment (Intersection, Merge, Roundabout Environment)  -&gt; for checking the model adaptability &amp; generalizability </a:t>
            </a:r>
            <a:endParaRPr/>
          </a:p>
          <a:p>
            <a:pPr indent="0" lvl="0" marL="685800" rtl="0" algn="l">
              <a:lnSpc>
                <a:spcPct val="2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8f9a26d23_3_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Methodology—Our Experiment Plan</a:t>
            </a:r>
            <a:endParaRPr/>
          </a:p>
        </p:txBody>
      </p:sp>
      <p:sp>
        <p:nvSpPr>
          <p:cNvPr id="280" name="Google Shape;280;g3a8f9a26d23_3_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For performance comparison, we shall compare HANOI-WORLD with different world-model implementations include: </a:t>
            </a:r>
            <a:endParaRPr/>
          </a:p>
          <a:p>
            <a:pPr indent="-3429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DreamerV3 used by [4]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+"/>
            </a:pPr>
            <a:r>
              <a:rPr lang="en-US"/>
              <a:t>VQ-VAE based design used by [12]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a8f9a26d23_3_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b38702c34_1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Methodology— Training Setup</a:t>
            </a:r>
            <a:endParaRPr/>
          </a:p>
        </p:txBody>
      </p:sp>
      <p:sp>
        <p:nvSpPr>
          <p:cNvPr id="288" name="Google Shape;288;g3ab38702c34_1_2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Experimental Training Setup</a:t>
            </a:r>
            <a:endParaRPr b="1" sz="21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Compare models across three environments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Gymnasium package driving benchmarks used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Highway, Merge, Roundabout scenarios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VQ-VAE plus DreamerV3 training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HanoiWorld trained separately baseline</a:t>
            </a:r>
            <a:br>
              <a:rPr lang="en-US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89" name="Google Shape;289;g3ab38702c34_1_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0" name="Google Shape;290;g3ab38702c34_1_20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Training Configuration Details</a:t>
            </a:r>
            <a:endParaRPr b="1" sz="21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DreamerV3</a:t>
            </a:r>
            <a:r>
              <a:rPr lang="en-US" sz="1900"/>
              <a:t> &amp; </a:t>
            </a:r>
            <a:r>
              <a:rPr b="1" lang="en-US" sz="1900"/>
              <a:t>VQ-VAE</a:t>
            </a:r>
            <a:r>
              <a:rPr lang="en-US" sz="1900"/>
              <a:t> trained 100k steps with PPO for policy learning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HanoiWorld</a:t>
            </a:r>
            <a:r>
              <a:rPr lang="en-US" sz="1900"/>
              <a:t> trained five-thousand steps</a:t>
            </a:r>
            <a:br>
              <a:rPr lang="en-US" sz="1900"/>
            </a:br>
            <a:r>
              <a:rPr lang="en-US" sz="1900"/>
              <a:t>with REINFORCE used for optimization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44b3e5b3d_0_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Methodology— Environment Setup</a:t>
            </a:r>
            <a:endParaRPr/>
          </a:p>
        </p:txBody>
      </p:sp>
      <p:sp>
        <p:nvSpPr>
          <p:cNvPr id="297" name="Google Shape;297;g3b44b3e5b3d_0_36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Environments Considered</a:t>
            </a:r>
            <a:endParaRPr b="1" sz="21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Highway-Env straight driving dynamics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Merge-Env lane-merging complexity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Roundabout-Env circular traffic interactions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Increasing difficulty across environments</a:t>
            </a:r>
            <a:br>
              <a:rPr lang="en-US" sz="1900"/>
            </a:b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Tests generalization and robustness</a:t>
            </a:r>
            <a:br>
              <a:rPr lang="en-US" sz="1900"/>
            </a:b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298" name="Google Shape;298;g3b44b3e5b3d_0_36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00"/>
              <a:t>Implementation</a:t>
            </a:r>
            <a:endParaRPr b="1" sz="21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Pretrained V-JEPA 2 encoder on NuScene &amp; NuPlan dataset (pre-processed LiDAR cloud to 2D RGB)</a:t>
            </a:r>
            <a:endParaRPr sz="19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/>
              <a:t>RSSM &amp; Policy networks are trained on the gynasim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b44b3e5b3d_0_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Methodology – Metric &amp; Evaluation</a:t>
            </a:r>
            <a:endParaRPr/>
          </a:p>
        </p:txBody>
      </p:sp>
      <p:sp>
        <p:nvSpPr>
          <p:cNvPr id="306" name="Google Shape;306;p25"/>
          <p:cNvSpPr txBox="1"/>
          <p:nvPr>
            <p:ph idx="1" type="body"/>
          </p:nvPr>
        </p:nvSpPr>
        <p:spPr>
          <a:xfrm>
            <a:off x="838200" y="1963175"/>
            <a:ext cx="10515600" cy="41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Our team chooses these metrics due to their simplicity and interpretability</a:t>
            </a:r>
            <a:endParaRPr sz="3600"/>
          </a:p>
          <a:p>
            <a:pPr indent="-279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Collision Rate ↓</a:t>
            </a:r>
            <a:endParaRPr sz="3200"/>
          </a:p>
          <a:p>
            <a:pPr indent="-2794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Average Reward / Score ↑</a:t>
            </a:r>
            <a:endParaRPr sz="3200"/>
          </a:p>
        </p:txBody>
      </p:sp>
      <p:sp>
        <p:nvSpPr>
          <p:cNvPr id="307" name="Google Shape;30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test&#10;&#10;AI-generated content may be incorrect." id="312" name="Google Shape;31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479" y="1358535"/>
            <a:ext cx="12192000" cy="38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text&#10;&#10;AI-generated content may be incorrect." id="318" name="Google Shape;31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30250"/>
            <a:ext cx="12364200" cy="37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</a:rPr>
              <a:t>‹#›</a:t>
            </a:fld>
            <a:endParaRPr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What each metric means</a:t>
            </a:r>
            <a:endParaRPr/>
          </a:p>
        </p:txBody>
      </p:sp>
      <p:sp>
        <p:nvSpPr>
          <p:cNvPr id="325" name="Google Shape;32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6" name="Google Shape;326;p26"/>
          <p:cNvGraphicFramePr/>
          <p:nvPr/>
        </p:nvGraphicFramePr>
        <p:xfrm>
          <a:off x="1328738" y="1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{4C29B2D0-CAA4-4AA9-96E9-69E9A3C8234B}</a:tableStyleId>
              </a:tblPr>
              <a:tblGrid>
                <a:gridCol w="2118775"/>
                <a:gridCol w="3244375"/>
                <a:gridCol w="4171375"/>
              </a:tblGrid>
              <a:tr h="7576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Aspect</a:t>
                      </a:r>
                      <a:endParaRPr b="1"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Metric</a:t>
                      </a:r>
                      <a:endParaRPr b="1"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What They Reflect</a:t>
                      </a:r>
                      <a:endParaRPr b="1" sz="2200"/>
                    </a:p>
                  </a:txBody>
                  <a:tcPr marT="91425" marB="91425" marR="91425" marL="91425"/>
                </a:tc>
              </a:tr>
              <a:tr h="131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Safety</a:t>
                      </a:r>
                      <a:endParaRPr b="1"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Collision Rate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Risk &amp; Rule violation avoidance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1310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/>
                        <a:t>Efficiency</a:t>
                      </a:r>
                      <a:endParaRPr b="1"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Average Reward /Score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Speed-accuracy trade-off</a:t>
                      </a:r>
                      <a:endParaRPr sz="2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b38702c3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Result - Collision Rate (100 episodes)</a:t>
            </a:r>
            <a:endParaRPr/>
          </a:p>
        </p:txBody>
      </p:sp>
      <p:sp>
        <p:nvSpPr>
          <p:cNvPr id="333" name="Google Shape;333;g3ab38702c3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ab38702c34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35" name="Google Shape;335;g3ab38702c34_0_0"/>
          <p:cNvGraphicFramePr/>
          <p:nvPr/>
        </p:nvGraphicFramePr>
        <p:xfrm>
          <a:off x="1422500" y="2013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{C75787FD-30A6-4F41-9718-75A87F5E616D}</a:tableStyleId>
              </a:tblPr>
              <a:tblGrid>
                <a:gridCol w="2336750"/>
                <a:gridCol w="2336750"/>
                <a:gridCol w="2336750"/>
                <a:gridCol w="2336750"/>
              </a:tblGrid>
              <a:tr h="65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ENV</a:t>
                      </a:r>
                      <a:endParaRPr b="1"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200">
                          <a:solidFill>
                            <a:schemeClr val="dk1"/>
                          </a:solidFill>
                        </a:rPr>
                        <a:t>Highway</a:t>
                      </a:r>
                      <a:endParaRPr b="1" sz="2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Merge</a:t>
                      </a:r>
                      <a:endParaRPr b="1" sz="2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/>
                        <a:t>Roundabout</a:t>
                      </a:r>
                      <a:endParaRPr b="1" sz="2200"/>
                    </a:p>
                  </a:txBody>
                  <a:tcPr marT="91425" marB="91425" marR="91425" marL="91425"/>
                </a:tc>
              </a:tr>
              <a:tr h="10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DreamerV3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0.550 ± 0.497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0.030 ± 0.171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0.500 ± 0.500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VQ-VAE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1.000 ± 0.000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0.290 ± 0.454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0.570 ± 0.495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HANOI-WORLD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0.20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 0.40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0.97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0.170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0.340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</a:t>
                      </a:r>
                      <a:r>
                        <a:rPr lang="en-US" sz="1900"/>
                        <a:t>0.473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b38702c34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Evaluation Result - Average Reward/Score (100 episodes)</a:t>
            </a:r>
            <a:endParaRPr/>
          </a:p>
        </p:txBody>
      </p:sp>
      <p:sp>
        <p:nvSpPr>
          <p:cNvPr id="342" name="Google Shape;342;g3ab38702c34_0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43" name="Google Shape;343;g3ab38702c34_0_10"/>
          <p:cNvGraphicFramePr/>
          <p:nvPr/>
        </p:nvGraphicFramePr>
        <p:xfrm>
          <a:off x="1725225" y="1954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{C75787FD-30A6-4F41-9718-75A87F5E616D}</a:tableStyleId>
              </a:tblPr>
              <a:tblGrid>
                <a:gridCol w="2368800"/>
                <a:gridCol w="2368800"/>
                <a:gridCol w="2368800"/>
                <a:gridCol w="2368800"/>
              </a:tblGrid>
              <a:tr h="10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ENV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>
                          <a:solidFill>
                            <a:schemeClr val="dk1"/>
                          </a:solidFill>
                        </a:rPr>
                        <a:t>Highway</a:t>
                      </a:r>
                      <a:endParaRPr b="1" sz="2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Merge</a:t>
                      </a:r>
                      <a:endParaRPr b="1" sz="2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Roundabout</a:t>
                      </a:r>
                      <a:endParaRPr b="1" sz="2100"/>
                    </a:p>
                  </a:txBody>
                  <a:tcPr marT="91425" marB="91425" marR="91425" marL="91425"/>
                </a:tc>
              </a:tr>
              <a:tr h="10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DreamerV3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51.065 ± 52.700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41.973 ± 2.896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9.423 ± 6.171</a:t>
                      </a:r>
                      <a:endParaRPr sz="1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VQ-VAE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3.121 ± 12.047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30.114 ± 11.664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3.826 ± 4.643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HANOI-WORLD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13.163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23.277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13.48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5.703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9.818 </a:t>
                      </a: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± </a:t>
                      </a:r>
                      <a:r>
                        <a:rPr lang="en-US" sz="1900"/>
                        <a:t>6.252</a:t>
                      </a:r>
                      <a:endParaRPr sz="19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b44b3e5b3d_0_5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 - Encoder Architecture</a:t>
            </a:r>
            <a:endParaRPr/>
          </a:p>
        </p:txBody>
      </p:sp>
      <p:sp>
        <p:nvSpPr>
          <p:cNvPr id="350" name="Google Shape;350;g3b44b3e5b3d_0_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1" name="Google Shape;351;g3b44b3e5b3d_0_55" title="Encoder_Arch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5378"/>
            <a:ext cx="12191998" cy="4287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44b3e5b3d_0_7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 - Training Objective</a:t>
            </a:r>
            <a:endParaRPr/>
          </a:p>
        </p:txBody>
      </p:sp>
      <p:sp>
        <p:nvSpPr>
          <p:cNvPr id="358" name="Google Shape;358;g3b44b3e5b3d_0_72"/>
          <p:cNvSpPr txBox="1"/>
          <p:nvPr>
            <p:ph idx="1" type="body"/>
          </p:nvPr>
        </p:nvSpPr>
        <p:spPr>
          <a:xfrm>
            <a:off x="838200" y="2160125"/>
            <a:ext cx="5181600" cy="389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JEPA-Encoder </a:t>
            </a:r>
            <a:r>
              <a:rPr lang="en-US"/>
              <a:t>Fine Tuning as [14], [15]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  <a:p>
            <a:pPr indent="-29972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ct val="61538"/>
              <a:buChar char="+"/>
            </a:pPr>
            <a:r>
              <a:rPr b="1" lang="en-US" sz="2600"/>
              <a:t>L1-</a:t>
            </a:r>
            <a:r>
              <a:rPr b="1" lang="en-US" sz="2600"/>
              <a:t>Alignment</a:t>
            </a:r>
            <a:r>
              <a:rPr b="1" lang="en-US" sz="2600"/>
              <a:t> loss (structure constrain)</a:t>
            </a:r>
            <a:endParaRPr b="1" sz="2600"/>
          </a:p>
          <a:p>
            <a:pPr indent="-29972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61538"/>
              <a:buChar char="+"/>
            </a:pPr>
            <a:r>
              <a:rPr b="1" lang="en-US" sz="2600"/>
              <a:t>VIC-Regularization (embedding </a:t>
            </a:r>
            <a:r>
              <a:rPr b="1" lang="en-US" sz="2600"/>
              <a:t>collapse</a:t>
            </a:r>
            <a:r>
              <a:rPr b="1" lang="en-US" sz="2600"/>
              <a:t> prevention)</a:t>
            </a:r>
            <a:endParaRPr b="1" sz="2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b44b3e5b3d_0_7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g3b44b3e5b3d_0_72"/>
          <p:cNvSpPr txBox="1"/>
          <p:nvPr>
            <p:ph idx="2" type="body"/>
          </p:nvPr>
        </p:nvSpPr>
        <p:spPr>
          <a:xfrm>
            <a:off x="6172200" y="1825625"/>
            <a:ext cx="5615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HanoiWorld - apply the loss as [4]</a:t>
            </a:r>
            <a:endParaRPr/>
          </a:p>
          <a:p>
            <a:pPr indent="-336550" lvl="0" marL="457200" rtl="0" algn="l">
              <a:lnSpc>
                <a:spcPct val="20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+"/>
            </a:pPr>
            <a:r>
              <a:rPr b="1" lang="en-US" sz="2000"/>
              <a:t>World Model Losse (Dynamicity &amp; Imaginary)</a:t>
            </a:r>
            <a:endParaRPr b="1" sz="20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n-US" sz="2000"/>
              <a:t>Actor (Policy) Losses (Learn what to do)</a:t>
            </a:r>
            <a:endParaRPr b="1" sz="20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+"/>
            </a:pPr>
            <a:r>
              <a:rPr b="1" lang="en-US" sz="2000"/>
              <a:t>Critic (Value) Losses (How well is the agent’s performance)</a:t>
            </a:r>
            <a:endParaRPr b="1" sz="2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b44b3e5b3d_0_8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 - HanoiWorld Loss</a:t>
            </a:r>
            <a:endParaRPr/>
          </a:p>
        </p:txBody>
      </p:sp>
      <p:sp>
        <p:nvSpPr>
          <p:cNvPr id="367" name="Google Shape;367;g3b44b3e5b3d_0_8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1️⃣ World Model Losses (Learn dynamics &amp; imagination)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Reconstruction loss</a:t>
            </a:r>
            <a:r>
              <a:rPr lang="en-US" sz="1600"/>
              <a:t>: predict observations (image, proprioception, etc.)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Reward prediction loss</a:t>
            </a:r>
            <a:r>
              <a:rPr lang="en-US" sz="1600"/>
              <a:t>: predict scalar reward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Discount / termination loss</a:t>
            </a:r>
            <a:r>
              <a:rPr lang="en-US" sz="1600"/>
              <a:t>: predict episode continuation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KL loss (posterior ↔ prior)</a:t>
            </a:r>
            <a:r>
              <a:rPr lang="en-US" sz="1600"/>
              <a:t>: latent consistency &amp; regularization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Representation regularization</a:t>
            </a:r>
            <a:r>
              <a:rPr lang="en-US" sz="1600"/>
              <a:t>: stabilize latent dynamics</a:t>
            </a:r>
            <a:br>
              <a:rPr lang="en-US" sz="1600"/>
            </a:br>
            <a:endParaRPr sz="1600"/>
          </a:p>
        </p:txBody>
      </p:sp>
      <p:sp>
        <p:nvSpPr>
          <p:cNvPr id="368" name="Google Shape;368;g3b44b3e5b3d_0_8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/>
              <a:t>2️⃣ Actor (Policy) Losses (Learn what to do)</a:t>
            </a:r>
            <a:endParaRPr b="1"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Expected return maximization</a:t>
            </a:r>
            <a:r>
              <a:rPr lang="en-US" sz="1600"/>
              <a:t> (imagined rollouts)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Value-aware policy gradient</a:t>
            </a:r>
            <a:r>
              <a:rPr lang="en-US" sz="1600"/>
              <a:t> (uses learned value)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Entropy regularization</a:t>
            </a:r>
            <a:r>
              <a:rPr lang="en-US" sz="1600"/>
              <a:t> (encourage exploration)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Continuation-weighted objective</a:t>
            </a:r>
            <a:r>
              <a:rPr lang="en-US" sz="1600"/>
              <a:t> (long-horizon focus)</a:t>
            </a:r>
            <a:br>
              <a:rPr lang="en-US" sz="1600"/>
            </a:b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/>
              <a:t>Latent-space optimization</a:t>
            </a:r>
            <a:r>
              <a:rPr lang="en-US" sz="1600"/>
              <a:t> (acts in imagination, not pixels)</a:t>
            </a:r>
            <a:br>
              <a:rPr lang="en-US" sz="1600"/>
            </a:b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9" name="Google Shape;369;g3b44b3e5b3d_0_8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44b3e5b3d_0_9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 - HanoiWorld Loss (cont)</a:t>
            </a:r>
            <a:endParaRPr/>
          </a:p>
        </p:txBody>
      </p:sp>
      <p:sp>
        <p:nvSpPr>
          <p:cNvPr id="376" name="Google Shape;376;g3b44b3e5b3d_0_96"/>
          <p:cNvSpPr txBox="1"/>
          <p:nvPr>
            <p:ph idx="1" type="body"/>
          </p:nvPr>
        </p:nvSpPr>
        <p:spPr>
          <a:xfrm>
            <a:off x="838200" y="1825625"/>
            <a:ext cx="10268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300"/>
              <a:t>3️⃣ Critic (Value) Losses (Learn how good it is)</a:t>
            </a:r>
            <a:endParaRPr b="1" sz="23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Value regression loss</a:t>
            </a:r>
            <a:r>
              <a:rPr lang="en-US" sz="2100"/>
              <a:t> (predict expected return)</a:t>
            </a:r>
            <a:br>
              <a:rPr lang="en-US" sz="2100"/>
            </a:b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λ-return / TD target loss</a:t>
            </a:r>
            <a:r>
              <a:rPr lang="en-US" sz="2100"/>
              <a:t> (long-term credit assignment)</a:t>
            </a:r>
            <a:br>
              <a:rPr lang="en-US" sz="2100"/>
            </a:b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Bootstrapped targets</a:t>
            </a:r>
            <a:r>
              <a:rPr lang="en-US" sz="2100"/>
              <a:t> (from imagined trajectories)</a:t>
            </a:r>
            <a:br>
              <a:rPr lang="en-US" sz="2100"/>
            </a:b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Discount-aware value loss</a:t>
            </a:r>
            <a:br>
              <a:rPr b="1" lang="en-US" sz="2100"/>
            </a:br>
            <a:endParaRPr b="1"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b="1" lang="en-US" sz="2100"/>
              <a:t>Stabilization via slow targets</a:t>
            </a:r>
            <a:endParaRPr b="1" sz="2600"/>
          </a:p>
        </p:txBody>
      </p:sp>
      <p:sp>
        <p:nvSpPr>
          <p:cNvPr id="377" name="Google Shape;377;g3b44b3e5b3d_0_9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83" name="Google Shape;383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[1]: Ha, D., &amp; Schmidhuber, J. (2018). World Models. </a:t>
            </a:r>
            <a:r>
              <a:rPr i="1" lang="en-US"/>
              <a:t>World Models</a:t>
            </a:r>
            <a:r>
              <a:rPr lang="en-US"/>
              <a:t>, </a:t>
            </a:r>
            <a:r>
              <a:rPr i="1" lang="en-US"/>
              <a:t>1</a:t>
            </a:r>
            <a:r>
              <a:rPr lang="en-US"/>
              <a:t>(1), e10. https://doi.org/10.5281/zenodo.1207631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[2]: Lecun, Y. (2022). </a:t>
            </a:r>
            <a:r>
              <a:rPr i="1" lang="en-US"/>
              <a:t>A Path Towards Autonomous Machine Intelligence</a:t>
            </a:r>
            <a:r>
              <a:rPr lang="en-US"/>
              <a:t>. https://openreview.net/pdf?id=BZ5a1r-kVsf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[3]: Assran, M., Duval, Q., Misra, I., Bojanowski, P., Vincent, P., Rabbat, M., LeCun, Y., &amp; Ballas, N. (2023). Self-Supervised Learning from Images with a Joint-Embedding Predictive Architecture. </a:t>
            </a:r>
            <a:r>
              <a:rPr i="1" lang="en-US"/>
              <a:t>ArXiv:2301.08243 [Cs, Eess]</a:t>
            </a:r>
            <a:r>
              <a:rPr lang="en-US"/>
              <a:t>. https://arxiv.org/abs/2301.08243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" name="Google Shape;38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[4]: Hafner, D., Pasukonis, J., Ba, J., &amp; Lillicrap, T. (2023, January 10). </a:t>
            </a:r>
            <a:r>
              <a:rPr i="1" lang="en-US"/>
              <a:t>Mastering Diverse Domains through World Models</a:t>
            </a:r>
            <a:r>
              <a:rPr lang="en-US"/>
              <a:t>. ArXiv.org. https://doi.org/10.48550/arXiv.2301.04104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[5]: Hansen, N., Su, H., &amp; Wang, X. (2023). </a:t>
            </a:r>
            <a:r>
              <a:rPr i="1" lang="en-US"/>
              <a:t>TD-MPC2: Scalable, Robust World Models for Continuous Control</a:t>
            </a:r>
            <a:r>
              <a:rPr lang="en-US"/>
              <a:t>. ArXiv.org. https://arxiv.org/abs/2310.16828v2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[6]: Caesar, H., Kabzan, J., Tan, K. S., Fong, W. K., Wolff, E., Lang, A., Fletcher, L., Beijbom, O., &amp; Omari, S. (2021). </a:t>
            </a:r>
            <a:r>
              <a:rPr i="1" lang="en-US"/>
              <a:t>NuPlan: A closed-loop ML-based planning benchmark for autonomous vehicles</a:t>
            </a:r>
            <a:r>
              <a:rPr lang="en-US"/>
              <a:t>. ArXiv.org. https://arxiv.org/abs/2106.11810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1" name="Google Shape;39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397" name="Google Shape;397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[7]: Yan, Z., Li, J., Hang, P., &amp; Sun, J. (2025). </a:t>
            </a:r>
            <a:r>
              <a:rPr i="1" lang="en-US"/>
              <a:t>OnSiteVRU: A High-Resolution Trajectory Dataset for High-Density Vulnerable Road Users</a:t>
            </a:r>
            <a:r>
              <a:rPr lang="en-US"/>
              <a:t>. ArXiv.org. https://arxiv.org/abs/2503.23365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[8]: Gao, D., Cai, S., Zhou, H., Wang, H., Soltani, I., &amp; Zhang, J. (2024). </a:t>
            </a:r>
            <a:r>
              <a:rPr i="1" lang="en-US"/>
              <a:t>CarDreamer: Open-Source Learning Platform for World Model based Autonomous Driving</a:t>
            </a:r>
            <a:r>
              <a:rPr lang="en-US"/>
              <a:t>. ArXiv.org. https://arxiv.org/abs/2405.09111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[9]: Min, C., Zhao, D., Xiao, L., Zhao, J., Xu, X., Zhu, Z., Jin, L., Li, J., Guo, Y., Xing, J., Jing, L., Nie, Y., &amp; Dai, B. (2024). </a:t>
            </a:r>
            <a:r>
              <a:rPr i="1" lang="en-US"/>
              <a:t>DriveWorld: 4D Pre-trained Scene Understanding via World Models for Autonomous Driving</a:t>
            </a:r>
            <a:r>
              <a:rPr lang="en-US"/>
              <a:t>. ArXiv.org. https://arxiv.org/abs/2405.04390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8" name="Google Shape;39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404" name="Google Shape;404;p39"/>
          <p:cNvSpPr txBox="1"/>
          <p:nvPr>
            <p:ph idx="1" type="body"/>
          </p:nvPr>
        </p:nvSpPr>
        <p:spPr>
          <a:xfrm>
            <a:off x="838200" y="1825625"/>
            <a:ext cx="10515600" cy="4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[10] Caesar, H., Bankiti, V., Lang, A. H., Vora, S., Liong, V. E., Xu, Q., Krishnan, A., Pan, Y., Baldan, G., &amp; Beijbom, O. (2019). nuScenes: A multimodal dataset for autonomous driving. </a:t>
            </a:r>
            <a:r>
              <a:rPr i="1" lang="en-US"/>
              <a:t>Arxiv.org</a:t>
            </a:r>
            <a:r>
              <a:rPr lang="en-US"/>
              <a:t>. https://arxiv.org/abs/1903.11027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[11] Williams, R. J. (1992). Simple statistical gradient-following algorithms for connectionist reinforcement learning. </a:t>
            </a:r>
            <a:r>
              <a:rPr i="1" lang="en-US"/>
              <a:t>Machine Learning</a:t>
            </a:r>
            <a:r>
              <a:rPr lang="en-US"/>
              <a:t>, </a:t>
            </a:r>
            <a:r>
              <a:rPr i="1" lang="en-US"/>
              <a:t>8</a:t>
            </a:r>
            <a:r>
              <a:rPr lang="en-US"/>
              <a:t>(3-4), 229–256.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https://doi.org/10.1007/bf00992696</a:t>
            </a:r>
            <a:endParaRPr/>
          </a:p>
          <a:p>
            <a:pPr indent="-15652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lang="en-US"/>
              <a:t>[12] </a:t>
            </a:r>
            <a:r>
              <a:rPr lang="en-US"/>
              <a:t>Robine, J., Uelwer, T., &amp; Harmeling, S. (2020). Smaller World Models for Reinforcement Learning. ArXiv.org.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https://arxiv.org/abs/2010.05767</a:t>
            </a:r>
            <a:endParaRPr/>
          </a:p>
          <a:p>
            <a:pPr indent="-15652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6666"/>
              <a:buChar char="•"/>
            </a:pPr>
            <a:r>
              <a:rPr lang="en-US"/>
              <a:t>[13]</a:t>
            </a:r>
            <a:r>
              <a:rPr lang="en-US" sz="2700"/>
              <a:t> Hafner, D., Lillicrap, T., Fischer, I., Villegas, R., Ha, D., Lee, H., &amp; Davidson, J. (2019). Learning Latent Dynamics for Planning from Pixels. </a:t>
            </a:r>
            <a:r>
              <a:rPr i="1" lang="en-US" sz="2700"/>
              <a:t>ArXiv:1811.04551 [Cs, Stat]</a:t>
            </a:r>
            <a:r>
              <a:rPr lang="en-US" sz="2700"/>
              <a:t>. https://arxiv.org/abs/1811.04551</a:t>
            </a:r>
            <a:endParaRPr sz="27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44b3e5b3d_0_10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412" name="Google Shape;412;g3b44b3e5b3d_0_10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[14]: Assran, M., Duval, Q., Misra, I., Bojanowski, P., Vincent, P., Rabbat, M., LeCun, Y., &amp; Ballas, N. (2023). Self-Supervised Learning from Images with a Joint-Embedding Predictive Architecture. ArXiv:2301.08243 [Cs, Eess].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https://arxiv.org/abs/2301.08243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[15]: Bardes, A., Ponce, J., &amp; LeCun, Y. (2022). VICReg: Variance-Invariance-Covariance Regularization for Self-Supervised Learning. ArXiv:2105.04906 [Cs]. https://arxiv.org/abs/2105.04906</a:t>
            </a:r>
            <a:endParaRPr/>
          </a:p>
        </p:txBody>
      </p:sp>
      <p:sp>
        <p:nvSpPr>
          <p:cNvPr id="413" name="Google Shape;413;g3b44b3e5b3d_0_10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2025-11-10T12:15:24Z</dcterms:created>
  <dc:creator>Tran Tien Dat 20228006</dc:creator>
</cp:coreProperties>
</file>